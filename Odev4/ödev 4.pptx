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886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854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825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898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6102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1652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732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6829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9964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036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87825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24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74063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4170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10081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3590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7832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BA70E-D617-4D20-A056-679C2F4D54FB}" type="datetimeFigureOut">
              <a:rPr lang="tr-TR" smtClean="0"/>
              <a:t>19.05.2026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7284F-607A-4E94-B977-92495F1E9FD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85137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87069AC3-AFE2-4682-ACBB-4A51F6E3F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ÖDEV: B ve B+ Ağaçlarının Günümüzde Kullanım Alanları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47412E1-994E-4FD7-BC20-991D7451B8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Ahmet GÜMÜŞ - 02230224038</a:t>
            </a:r>
          </a:p>
        </p:txBody>
      </p:sp>
    </p:spTree>
    <p:extLst>
      <p:ext uri="{BB962C8B-B14F-4D97-AF65-F5344CB8AC3E}">
        <p14:creationId xmlns:p14="http://schemas.microsoft.com/office/powerpoint/2010/main" val="280407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5ED7F4D2-992D-4859-9D83-B66888C44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Kendi Kendini Dengeleyen M-Yollu Ağaçlar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1237A39-9951-4D61-B3B8-0DF8E67AD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B Ağacı, genellikle M-yollu ağaç olarak bilinen ve kendi kendini dengeleyen özel bir çok yollu arama ağacıdır.</a:t>
            </a:r>
          </a:p>
          <a:p>
            <a:r>
              <a:rPr lang="tr-TR" dirty="0"/>
              <a:t>İkili ağaçlardan farklı olarak, bir düğüm birden fazla anahtar (veri) alabilir ve ikiden fazla çocuğa sahip olabilir.</a:t>
            </a:r>
          </a:p>
          <a:p>
            <a:r>
              <a:rPr lang="tr-TR" dirty="0"/>
              <a:t>Ağaç kökten itibaren büyür ve daralır; tüm yaprak düğümleri her zaman aynı seviyede bulunur.</a:t>
            </a:r>
          </a:p>
          <a:p>
            <a:r>
              <a:rPr lang="tr-TR" dirty="0"/>
              <a:t>Temel amacı, ikili arama ağacına göre ağacın yüksekliğini kısaltmak ve çok daha az disk erişimi gerektirmektir. Zaman karmaşıklığı O(</a:t>
            </a:r>
            <a:r>
              <a:rPr lang="tr-TR" dirty="0" err="1"/>
              <a:t>logn</a:t>
            </a:r>
            <a:r>
              <a:rPr lang="tr-TR" dirty="0"/>
              <a:t>)'</a:t>
            </a:r>
            <a:r>
              <a:rPr lang="tr-TR" dirty="0" err="1"/>
              <a:t>dir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58458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B3773BEA-BB82-4458-98FC-F255E8C1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B Ağaçlarının Gelişmiş Uzantısı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6A1861D-A576-4B64-A31E-A16C8D7B8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B+ Ağacı, etkili ekleme, silme ve arama işlemlerine olanak tanıyan B ağacının bir uzantısıdır.</a:t>
            </a:r>
          </a:p>
          <a:p>
            <a:r>
              <a:rPr lang="tr-TR" dirty="0"/>
              <a:t>Temel Fark: B ağacında veriler hem iç hem yaprak düğümlerde saklanabilirken; B+ ağacında kayıtlar yalnızca yaprak düğümlerde saklanır. </a:t>
            </a:r>
          </a:p>
          <a:p>
            <a:r>
              <a:rPr lang="tr-TR" dirty="0"/>
              <a:t>İç düğümler yalnızca verilere ulaşmak için gereken anahtar değerleri (yönlendiricileri) saklar.</a:t>
            </a:r>
          </a:p>
          <a:p>
            <a:r>
              <a:rPr lang="tr-TR" dirty="0"/>
              <a:t>Yaprak düğümler, arama sorgularını daha verimli hale getirmek için tek bağlantılı listeler biçiminde birbirine bağlıdır. </a:t>
            </a:r>
          </a:p>
        </p:txBody>
      </p:sp>
    </p:spTree>
    <p:extLst>
      <p:ext uri="{BB962C8B-B14F-4D97-AF65-F5344CB8AC3E}">
        <p14:creationId xmlns:p14="http://schemas.microsoft.com/office/powerpoint/2010/main" val="1035760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3D26C04-93F0-4AD9-A69C-5FEEFDFB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Endüstri Standardı İndeksleme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011D57C-BEB8-47FF-8D62-F7CCD78DA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/>
              <a:t>Veritabanı Yönetim Sistemleri (DBMS): </a:t>
            </a:r>
            <a:r>
              <a:rPr lang="tr-TR" dirty="0"/>
              <a:t>Çok düzeyli dizin (</a:t>
            </a:r>
            <a:r>
              <a:rPr lang="tr-TR" dirty="0" err="1"/>
              <a:t>index</a:t>
            </a:r>
            <a:r>
              <a:rPr lang="tr-TR" dirty="0"/>
              <a:t>) oluşturmanın temelidir. Geniş </a:t>
            </a:r>
            <a:r>
              <a:rPr lang="tr-TR" dirty="0" err="1"/>
              <a:t>veritabanlarını</a:t>
            </a:r>
            <a:r>
              <a:rPr lang="tr-TR" dirty="0"/>
              <a:t> çalıştırmak ve yönetmek için yaygın olarak kullanılır.</a:t>
            </a:r>
          </a:p>
          <a:p>
            <a:r>
              <a:rPr lang="tr-TR" b="1" dirty="0"/>
              <a:t>Dosya Sistemleri:</a:t>
            </a:r>
            <a:r>
              <a:rPr lang="tr-TR" dirty="0"/>
              <a:t> Diskteki dosyalarda hızlı arama yapılmasına, verimli disk kullanımına (yazma, okuma, silme) olanak tanır.</a:t>
            </a:r>
          </a:p>
          <a:p>
            <a:r>
              <a:rPr lang="tr-TR" b="1" dirty="0"/>
              <a:t>Büyük Veri (</a:t>
            </a:r>
            <a:r>
              <a:rPr lang="tr-TR" b="1" dirty="0" err="1"/>
              <a:t>Big</a:t>
            </a:r>
            <a:r>
              <a:rPr lang="tr-TR" b="1" dirty="0"/>
              <a:t> Data): </a:t>
            </a:r>
            <a:r>
              <a:rPr lang="tr-TR" dirty="0"/>
              <a:t>Ana bellekte saklanamayan büyük miktarda veriyi depolamak için kullanılır.</a:t>
            </a:r>
          </a:p>
          <a:p>
            <a:r>
              <a:rPr lang="tr-TR" b="1" dirty="0"/>
              <a:t>Yapay Zeka ve RAM: </a:t>
            </a:r>
            <a:r>
              <a:rPr lang="tr-TR" dirty="0"/>
              <a:t>Yapay zeka analiz sonuçlarının saklanması ve dinamik RAM yönetiminde görev alır. </a:t>
            </a:r>
          </a:p>
        </p:txBody>
      </p:sp>
    </p:spTree>
    <p:extLst>
      <p:ext uri="{BB962C8B-B14F-4D97-AF65-F5344CB8AC3E}">
        <p14:creationId xmlns:p14="http://schemas.microsoft.com/office/powerpoint/2010/main" val="105955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70465801-5851-43F6-9B76-6B8F4524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Donanım Darboğazını Aşmak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BF2A1E0-EE2B-485C-A493-61D83A9FA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/>
              <a:t>Disk </a:t>
            </a:r>
            <a:r>
              <a:rPr lang="tr-TR" b="1" dirty="0" err="1"/>
              <a:t>vs</a:t>
            </a:r>
            <a:r>
              <a:rPr lang="tr-TR" b="1" dirty="0"/>
              <a:t> RAM Hızı: </a:t>
            </a:r>
            <a:r>
              <a:rPr lang="tr-TR" dirty="0"/>
              <a:t>Tipik bir RAM erişimi yaklaşık 5 </a:t>
            </a:r>
            <a:r>
              <a:rPr lang="tr-TR" dirty="0" err="1"/>
              <a:t>mikrosaniye</a:t>
            </a:r>
            <a:r>
              <a:rPr lang="tr-TR" dirty="0"/>
              <a:t> sürerken, sıralı olmayan bir disk erişimi yaklaşık 15 milisaniye sürer (RAM, 3000 kat daha hızlıdır).</a:t>
            </a:r>
          </a:p>
          <a:p>
            <a:r>
              <a:rPr lang="tr-TR" dirty="0"/>
              <a:t>B ağaçları, tek bir düğümde çok sayıda işaretçi ve veri tutarak diske gidiş-dönüş sayısını minimize eder; hesaplama disk erişiminden çok daha ucuzdur.</a:t>
            </a:r>
          </a:p>
          <a:p>
            <a:r>
              <a:rPr lang="tr-TR" b="1" dirty="0" err="1"/>
              <a:t>PostgreSQL</a:t>
            </a:r>
            <a:r>
              <a:rPr lang="tr-TR" b="1" dirty="0"/>
              <a:t> &amp; </a:t>
            </a:r>
            <a:r>
              <a:rPr lang="tr-TR" b="1" dirty="0" err="1"/>
              <a:t>MySQL</a:t>
            </a:r>
            <a:r>
              <a:rPr lang="tr-TR" b="1" dirty="0"/>
              <a:t>: </a:t>
            </a:r>
            <a:r>
              <a:rPr lang="tr-TR" dirty="0"/>
              <a:t>Varsayılan indeksleme mimarisi olarak B+ ağaçlarını kullanırlar. Bağlı liste yapısı sayesinde "A ile B tarihleri arasındaki verileri getir" (</a:t>
            </a:r>
            <a:r>
              <a:rPr lang="tr-TR" dirty="0" err="1"/>
              <a:t>range</a:t>
            </a:r>
            <a:r>
              <a:rPr lang="tr-TR" dirty="0"/>
              <a:t> </a:t>
            </a:r>
            <a:r>
              <a:rPr lang="tr-TR" dirty="0" err="1"/>
              <a:t>query</a:t>
            </a:r>
            <a:r>
              <a:rPr lang="tr-TR" dirty="0"/>
              <a:t>) gibi sorgularda rakipsizdir.</a:t>
            </a:r>
          </a:p>
          <a:p>
            <a:r>
              <a:rPr lang="tr-TR" b="1" dirty="0" err="1"/>
              <a:t>MongoDB</a:t>
            </a:r>
            <a:r>
              <a:rPr lang="tr-TR" b="1" dirty="0"/>
              <a:t>:</a:t>
            </a:r>
            <a:r>
              <a:rPr lang="tr-TR" dirty="0"/>
              <a:t> </a:t>
            </a:r>
            <a:r>
              <a:rPr lang="tr-TR" dirty="0" err="1"/>
              <a:t>NoSQL</a:t>
            </a:r>
            <a:r>
              <a:rPr lang="tr-TR" dirty="0"/>
              <a:t> olmasına rağmen arka planda (</a:t>
            </a:r>
            <a:r>
              <a:rPr lang="tr-TR" dirty="0" err="1"/>
              <a:t>WiredTiger</a:t>
            </a:r>
            <a:r>
              <a:rPr lang="tr-TR" dirty="0"/>
              <a:t>) yapılandırılmış B-</a:t>
            </a:r>
            <a:r>
              <a:rPr lang="tr-TR" dirty="0" err="1"/>
              <a:t>Tree</a:t>
            </a:r>
            <a:r>
              <a:rPr lang="tr-TR" dirty="0"/>
              <a:t> mantığını kullanır.</a:t>
            </a:r>
          </a:p>
        </p:txBody>
      </p:sp>
    </p:spTree>
    <p:extLst>
      <p:ext uri="{BB962C8B-B14F-4D97-AF65-F5344CB8AC3E}">
        <p14:creationId xmlns:p14="http://schemas.microsoft.com/office/powerpoint/2010/main" val="3602950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9E2B0FFC-44FB-4218-B87B-04BE54304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Ulusal Kütüphane Sistemi Benzetmesi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E18070F-4DBB-4DD1-80F3-2BAB45611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tr-TR" b="1" dirty="0"/>
              <a:t>B Ağacı Mantığı (Geleneksel Kütüphane): </a:t>
            </a:r>
            <a:r>
              <a:rPr lang="tr-TR" dirty="0"/>
              <a:t>Yönlendirme tabelalarının olduğu üst kat dolaplarında, nadir kitapların kendisini de bulabilirsiniz. Aradığınız kitaba bazen en alt kata inmeden ulaşırsınız.</a:t>
            </a:r>
          </a:p>
          <a:p>
            <a:r>
              <a:rPr lang="tr-TR" b="1" dirty="0"/>
              <a:t>B+ Ağacı Mantığı (Modern Arşivler): </a:t>
            </a:r>
            <a:r>
              <a:rPr lang="tr-TR" dirty="0"/>
              <a:t>Üst katlarda hiçbir kitap yoktur, sadece "şu rafa git" diyen yönlendirme kartları (anahtarlar) vardır.</a:t>
            </a:r>
          </a:p>
          <a:p>
            <a:r>
              <a:rPr lang="tr-TR" b="1" dirty="0"/>
              <a:t>Avantajı:</a:t>
            </a:r>
            <a:r>
              <a:rPr lang="tr-TR" dirty="0"/>
              <a:t> Tüm kitaplar en alt katta (yaprak düğümlerde) yan yana, birbirine bağlı (</a:t>
            </a:r>
            <a:r>
              <a:rPr lang="tr-TR" dirty="0" err="1"/>
              <a:t>linked</a:t>
            </a:r>
            <a:r>
              <a:rPr lang="tr-TR" dirty="0"/>
              <a:t> </a:t>
            </a:r>
            <a:r>
              <a:rPr lang="tr-TR" dirty="0" err="1"/>
              <a:t>list</a:t>
            </a:r>
            <a:r>
              <a:rPr lang="tr-TR" dirty="0"/>
              <a:t>) raflarda dizilidir. "1990-2000 arası tüm kitapları ver" dendiğinde, raflar arası dümdüz yürüyerek hepsi tek seferde toplanır. </a:t>
            </a:r>
          </a:p>
        </p:txBody>
      </p:sp>
    </p:spTree>
    <p:extLst>
      <p:ext uri="{BB962C8B-B14F-4D97-AF65-F5344CB8AC3E}">
        <p14:creationId xmlns:p14="http://schemas.microsoft.com/office/powerpoint/2010/main" val="298916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>
            <a:extLst>
              <a:ext uri="{FF2B5EF4-FFF2-40B4-BE49-F238E27FC236}">
                <a16:creationId xmlns:a16="http://schemas.microsoft.com/office/drawing/2014/main" id="{244B1A11-887D-43EA-8672-EA98CEF8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Geleceğin İndeksleme Mimarisi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3DACC2-9A68-4C38-AEC3-A34203EE3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Neden Önemli? </a:t>
            </a:r>
            <a:r>
              <a:rPr lang="tr-TR" dirty="0"/>
              <a:t>Veriler </a:t>
            </a:r>
            <a:r>
              <a:rPr lang="tr-TR" dirty="0" err="1"/>
              <a:t>petabayt</a:t>
            </a:r>
            <a:r>
              <a:rPr lang="tr-TR" dirty="0"/>
              <a:t> seviyelerine ulaştıkça ve ana belleğe sığmadıkça ikincil bellek kullanımı zorunludur.</a:t>
            </a:r>
          </a:p>
          <a:p>
            <a:r>
              <a:rPr lang="tr-TR" b="1" dirty="0"/>
              <a:t>Büyük Veri Çağı: </a:t>
            </a:r>
            <a:r>
              <a:rPr lang="tr-TR" dirty="0"/>
              <a:t>Devasa veri setlerinde arama sürelerinin logaritmik hızda ($O(\</a:t>
            </a:r>
            <a:r>
              <a:rPr lang="tr-TR" dirty="0" err="1"/>
              <a:t>log</a:t>
            </a:r>
            <a:r>
              <a:rPr lang="tr-TR" dirty="0"/>
              <a:t> n)$) ve stabil kalmasını garanti eden tek yapı bu ağaçlardır.</a:t>
            </a:r>
          </a:p>
          <a:p>
            <a:r>
              <a:rPr lang="tr-TR" b="1" dirty="0"/>
              <a:t>Gelecekte Kullanılacak Mı? </a:t>
            </a:r>
            <a:r>
              <a:rPr lang="tr-TR" dirty="0"/>
              <a:t>Donanım teknolojileri (</a:t>
            </a:r>
            <a:r>
              <a:rPr lang="tr-TR" dirty="0" err="1"/>
              <a:t>NVMe</a:t>
            </a:r>
            <a:r>
              <a:rPr lang="tr-TR" dirty="0"/>
              <a:t> </a:t>
            </a:r>
            <a:r>
              <a:rPr lang="tr-TR" dirty="0" err="1"/>
              <a:t>SSD'ler</a:t>
            </a:r>
            <a:r>
              <a:rPr lang="tr-TR" dirty="0"/>
              <a:t>) ne kadar gelişirse gelişsin, işletim sistemleri verileri sektörler halinde yazmaya devam ettikçe B ağaçları temel indeksleme mimarisi olmaya devam edecektir.</a:t>
            </a:r>
          </a:p>
        </p:txBody>
      </p:sp>
    </p:spTree>
    <p:extLst>
      <p:ext uri="{BB962C8B-B14F-4D97-AF65-F5344CB8AC3E}">
        <p14:creationId xmlns:p14="http://schemas.microsoft.com/office/powerpoint/2010/main" val="20823382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evre">
  <a:themeElements>
    <a:clrScheme name="Devre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Devre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v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TM04033919[[fn=Devre]]</Template>
  <TotalTime>7</TotalTime>
  <Words>547</Words>
  <Application>Microsoft Office PowerPoint</Application>
  <PresentationFormat>Geniş ekran</PresentationFormat>
  <Paragraphs>30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Tw Cen MT</vt:lpstr>
      <vt:lpstr>Devre</vt:lpstr>
      <vt:lpstr>ÖDEV: B ve B+ Ağaçlarının Günümüzde Kullanım Alanları</vt:lpstr>
      <vt:lpstr>Kendi Kendini Dengeleyen M-Yollu Ağaçlar</vt:lpstr>
      <vt:lpstr>B Ağaçlarının Gelişmiş Uzantısı</vt:lpstr>
      <vt:lpstr>Endüstri Standardı İndeksleme</vt:lpstr>
      <vt:lpstr>Donanım Darboğazını Aşmak</vt:lpstr>
      <vt:lpstr>Ulusal Kütüphane Sistemi Benzetmesi</vt:lpstr>
      <vt:lpstr>Geleceğin İndeksleme Mimarisi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ÖDEV: B ve B+ Ağaçlarının Günümüzde Kullanım Alanları</dc:title>
  <dc:creator>Vıctus</dc:creator>
  <cp:lastModifiedBy>Vıctus</cp:lastModifiedBy>
  <cp:revision>1</cp:revision>
  <dcterms:created xsi:type="dcterms:W3CDTF">2026-05-19T20:37:14Z</dcterms:created>
  <dcterms:modified xsi:type="dcterms:W3CDTF">2026-05-19T20:44:46Z</dcterms:modified>
</cp:coreProperties>
</file>